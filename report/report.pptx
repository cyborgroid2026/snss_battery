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뷰어의 실험대 탭을 그대로 찍은 화면입니다. 왼쪽 무대에서 장비가 움직이고, 오른쪽에는 계기, 실험 노트, 절차가 나옵니다. 이 자료의 단계 화면은 모두 같은 탭에서 각 단계의 60 % 지점을 찍은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순환식 냉각기 · 알루미늄 냉각판 · 저온실 +4 °C</a:t>
            </a:r>
          </a:p>
          <a:p>
            <a:r>
              <a:t>할 일: 냉각기를 -20 °C 로 켠다. 판이 식는 동안(30–60분) 다음 단계를 진행한다.</a:t>
            </a:r>
          </a:p>
          <a:p>
            <a:r>
              <a:t>넘어가는 조건: 판 표면 온도 -20 ± 1 °C (동결 세팅 전까지)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전자저울 0.01 g · 칭량 접시</a:t>
            </a:r>
          </a:p>
          <a:p>
            <a:r>
              <a:t>할 일: PVA 가루 15.00 g 을 잰다.</a:t>
            </a:r>
          </a:p>
          <a:p>
            <a:r>
              <a:t>넘어가는 조건: 15.00 ± 0.05 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메스실린더 100 mL · 250 mL 비커</a:t>
            </a:r>
          </a:p>
          <a:p>
            <a:r>
              <a:t>할 일: 병에서 식염수 100 mL 를 비커에 덜고, 62.5 mL 를 더 덜어 따로 둔다. 병은 마개를 닫아 둔다.</a:t>
            </a:r>
          </a:p>
          <a:p>
            <a:r>
              <a:t>넘어가는 조건: 병에 337.5 mL 남음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교반 막대 · 알루미늄 호일</a:t>
            </a:r>
          </a:p>
          <a:p>
            <a:r>
              <a:t>할 일: 상온에서 300 rpm 으로 저으며 PVA 를 조금씩 뿌린다. 호일로 덮고 비커째 무게를 적는다.</a:t>
            </a:r>
          </a:p>
          <a:p>
            <a:r>
              <a:t>넘어가는 조건: 덩어리 없이 뿌옇게 퍼짐 · 무게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핫플레이트 교반기 · 온도 프로브</a:t>
            </a:r>
          </a:p>
          <a:p>
            <a:r>
              <a:t>할 일: 용액 온도 90 °C, 300 rpm 으로 약 2 h 녹인다. 30분마다 본다.</a:t>
            </a:r>
          </a:p>
          <a:p>
            <a:r>
              <a:t>넘어가는 조건: 투명하고 덩어리 없음 (15 wt%, 꿀처럼 진함)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전자저울 · 증류수 · 핫플레이트 교반기 (가열 끔)</a:t>
            </a:r>
          </a:p>
          <a:p>
            <a:r>
              <a:t>할 일: 비커째 무게를 재서 줄어든 만큼 증류수를 보충한다. 가열을 끄고 저으며 식힌다.</a:t>
            </a:r>
          </a:p>
          <a:p>
            <a:r>
              <a:t>넘어가는 조건: 무게 복원 · 40 °C 이하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20 mL 바이알 · 피펫</a:t>
            </a:r>
          </a:p>
          <a:p>
            <a:r>
              <a:t>할 일: 식염수 13.5 mL + PVA 용액 4 mL + GO 2.5 mL 를 섞어 30분 둔다.</a:t>
            </a:r>
          </a:p>
          <a:p>
            <a:r>
              <a:t>넘어가는 조건: 빛에 비춰 고른 갈색이면 진행 · 알갱이나 가라앉은 층이 보이면 중단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1 L 비커 · 핫플레이트 교반기 (가열 끔)</a:t>
            </a:r>
          </a:p>
          <a:p>
            <a:r>
              <a:t>할 일: 병의 남은 식염수 337.5 mL 를 비커에 붓고 300 rpm 으로 저으며 PVA 용액, GO 62.5 mL 순서로 천천히 넣는다. 30분 젓는다.</a:t>
            </a:r>
          </a:p>
          <a:p>
            <a:r>
              <a:t>넘어가는 조건: 줄무늬 없이 고른 갈색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진공 데시케이터 · 진공 펌프</a:t>
            </a:r>
          </a:p>
          <a:p>
            <a:r>
              <a:t>할 일: 15분 감압한다. 거품이 끓어오르면 잠깐 진공을 푼다.</a:t>
            </a:r>
          </a:p>
          <a:p>
            <a:r>
              <a:t>넘어가는 조건: 표면에 기포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깔때기 · 전자저울</a:t>
            </a:r>
          </a:p>
          <a:p>
            <a:r>
              <a:t>할 일: 벽을 타고 흐르게 천천히 병에 붓는다. 뚜껑은 반 바퀴 풀어 얹는다.</a:t>
            </a:r>
          </a:p>
          <a:p>
            <a:r>
              <a:t>넘어가는 조건: 500 mL · 액면이 어깨 아래 (얼면 9 % 늘어남)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접촉액 (30 % 에탄올) · 스티로폼 3 cm · 열전대 2개 + 기록계</a:t>
            </a:r>
          </a:p>
          <a:p>
            <a:r>
              <a:t>할 일: 병 바닥이 평평한지 보고, 판에 접촉액을 몇 mL 떨어뜨린 뒤 병을 세운다. 옆면·윗면을 단열하고 병 벽 아래·위에 열전대를 붙인다.</a:t>
            </a:r>
          </a:p>
          <a:p>
            <a:r>
              <a:t>넘어가는 조건: 바닥 열전대가 내려가기 시작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냉각판 · 저온실 +4 °C · 기록계</a:t>
            </a:r>
          </a:p>
          <a:p>
            <a:r>
              <a:t>할 일: 손대지 않는다. 얼음이 아래에서 위로 자라며 세포가 생긴다 (FEniCSx 약 22 h).</a:t>
            </a:r>
          </a:p>
          <a:p>
            <a:r>
              <a:t>넘어가는 조건: 위쪽 열전대 &lt; −3 °C (판 접촉이 나쁘면 더 걸림)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항온수조 25 °C</a:t>
            </a:r>
          </a:p>
          <a:p>
            <a:r>
              <a:t>할 일: 병을 어깨까지 수조에 담근다 (FEniCSx 약 2.4 h).</a:t>
            </a:r>
          </a:p>
          <a:p>
            <a:r>
              <a:t>넘어가는 조건: 병을 눌러 단단한 심이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냉각판 · 항온수조 25 °C</a:t>
            </a:r>
          </a:p>
          <a:p>
            <a:r>
              <a:t>할 일: 동결 세팅과 같은 방법으로 다시 방향성 동결 → 수조 해동을 2번 한다. PVA 골격이 단단해진다.</a:t>
            </a:r>
          </a:p>
          <a:p>
            <a:r>
              <a:t>넘어가는 조건: 회차마다 열전대 기록 · S4 용 1회 시료는 첫 해동 뒤 바로 분석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절단 가이드 띠 · 커터 · 받침</a:t>
            </a:r>
          </a:p>
          <a:p>
            <a:r>
              <a:t>할 일: 가이드 띠를 따라 병을 자르고 겔을 받친 채 꺼낸다.</a:t>
            </a:r>
          </a:p>
          <a:p>
            <a:r>
              <a:t>넘어가는 조건: 10분 안에 다음 측정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흑연 막대 2개 · 10 MΩ 멀티미터</a:t>
            </a:r>
          </a:p>
          <a:p>
            <a:r>
              <a:t>할 일: 윗면·아랫면에 흑연 막대를 대고 DC mV 를 잰다. 정·역 각 3번.</a:t>
            </a:r>
          </a:p>
          <a:p>
            <a:r>
              <a:t>넘어가는 조건: E2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면도칼 · 액체질소 · 실체현미경</a:t>
            </a:r>
          </a:p>
          <a:p>
            <a:r>
              <a:t>할 일: 세로로 잘라 단면 사진을 찍고 (자 함께), 위·가운데·아래에서 2 mm 조각을 떼어 액체질소에 10초 담근다.</a:t>
            </a:r>
          </a:p>
          <a:p>
            <a:r>
              <a:t>넘어가는 조건: S1–S3 사진 · 조각 3개 고정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동결건조기</a:t>
            </a:r>
          </a:p>
          <a:p>
            <a:r>
              <a:t>할 일: 고정한 조각을 얼린 채로 말린다.</a:t>
            </a:r>
          </a:p>
          <a:p>
            <a:r>
              <a:t>넘어가는 조건: 무게 변화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장비: SEM-EDS</a:t>
            </a:r>
          </a:p>
          <a:p>
            <a:r>
              <a:t>할 일: Cl 지도로 벽 근처와 칸 안의 소금 신호를 비교하고, 칸 폭을 잰다.</a:t>
            </a:r>
          </a:p>
          <a:p>
            <a:r>
              <a:t>넘어가는 조건: E1 · S1 · S2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EC3E6"/>
                </a:solidFill>
                <a:latin typeface="Malgun Gothic"/>
                <a:ea typeface="Malgun Gothic"/>
                <a:cs typeface="Malgun Gothic"/>
              </a:rPr>
              <a:t>SNSS 생리식염수 결정 배터리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통째 결정 실험 —
실험대에서 보는 19단계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5E3F0"/>
                </a:solidFill>
                <a:latin typeface="Malgun Gothic"/>
                <a:ea typeface="Malgun Gothic"/>
                <a:cs typeface="Malgun Gothic"/>
              </a:rPr>
              <a:t>약국 식염수병을 그릇 삼아 아래에서 위로 얼려, 얼음 결정 하나하나가 인공세포가 되게 하는 과정을 웹 뷰어 '실험대' 화면으로 따라갑니다.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9C2"/>
                </a:solidFill>
                <a:latin typeface="Malgun Gothic"/>
                <a:ea typeface="Malgun Gothic"/>
                <a:cs typeface="Malgun Gothic"/>
              </a:rPr>
              <a:t>웹 뷰어 http://127.0.0.1:8765/#lab · 2026-10-19</a:t>
            </a:r>
          </a:p>
        </p:txBody>
      </p:sp>
      <p:pic>
        <p:nvPicPr>
          <p:cNvPr id="6" name="실험대 전체 화면" descr="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97280"/>
            <a:ext cx="5486400" cy="3086100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7220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9C2"/>
                </a:solidFill>
                <a:latin typeface="Malgun Gothic"/>
                <a:ea typeface="Malgun Gothic"/>
                <a:cs typeface="Malgun Gothic"/>
              </a:rPr>
              <a:t>웹 뷰어 '실험대' 탭 — 지금 화면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한눈에 보는 실험</a:t>
            </a:r>
          </a:p>
        </p:txBody>
      </p:sp>
      <p:sp>
        <p:nvSpPr>
          <p:cNvPr id="3" name="부제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500 mL 식염수병 하나 기준 · 동결 · 해동 시간은 FEniCSx 열전달 계산값</a:t>
            </a:r>
          </a:p>
        </p:txBody>
      </p:sp>
      <p:sp>
        <p:nvSpPr>
          <p:cNvPr id="4" name="숫자 1"/>
          <p:cNvSpPr/>
          <p:nvPr/>
        </p:nvSpPr>
        <p:spPr>
          <a:xfrm>
            <a:off x="548640" y="1600200"/>
            <a:ext cx="2578608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4.4일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전체 약 106 h</a:t>
            </a:r>
          </a:p>
        </p:txBody>
      </p:sp>
      <p:sp>
        <p:nvSpPr>
          <p:cNvPr id="7" name="숫자 2"/>
          <p:cNvSpPr/>
          <p:nvPr/>
        </p:nvSpPr>
        <p:spPr>
          <a:xfrm>
            <a:off x="3364992" y="1600200"/>
            <a:ext cx="2578608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7830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5.8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사람 손이 드는 시간</a:t>
            </a:r>
          </a:p>
        </p:txBody>
      </p:sp>
      <p:sp>
        <p:nvSpPr>
          <p:cNvPr id="10" name="숫자 3"/>
          <p:cNvSpPr/>
          <p:nvPr/>
        </p:nvSpPr>
        <p:spPr>
          <a:xfrm>
            <a:off x="6181344" y="1600200"/>
            <a:ext cx="2578608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7830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19단계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수작업 9 · 기계작업 10</a:t>
            </a:r>
          </a:p>
        </p:txBody>
      </p:sp>
      <p:sp>
        <p:nvSpPr>
          <p:cNvPr id="13" name="숫자 4"/>
          <p:cNvSpPr/>
          <p:nvPr/>
        </p:nvSpPr>
        <p:spPr>
          <a:xfrm>
            <a:off x="8997696" y="1600200"/>
            <a:ext cx="2578608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7830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22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방향성 동결 1회 (3회 반복)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109441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결정 = 세포.</a:t>
            </a:r>
            <a:r>
              <a:rPr sz="16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 아래에서 위로 천천히 얼리면 얼음 결정 하나가 세포 하나의 틀이 되고, GO · PVA 는 결정 경계로 밀려나 막이 됩니다.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빈 세포에 에너지.</a:t>
            </a:r>
            <a:r>
              <a:rPr sz="16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 소금도 얼음에서 밀려나, 녹인 뒤 세포 안은 묽고(약 2 mM) 막 사이는 진합니다(약 1.6 M). 이 농도차가 담긴 에너지입니다.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전기는 아직 안 나옵니다.</a:t>
            </a:r>
            <a:r>
              <a:rPr sz="16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 층 · 극성이 없어 위아래가 대칭이라 윗면–아랫면 전압은 약 2 mV 가 정상입니다.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재료표</a:t>
            </a:r>
          </a:p>
        </p:txBody>
      </p:sp>
      <p:sp>
        <p:nvSpPr>
          <p:cNvPr id="3" name="부제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모두 금속 무함유 — 소금의 나트륨 이온은 체액 이온 · 500 mL 병 하나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06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788920"/>
                <a:gridCol w="210312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</a:t>
                      </a:r>
                    </a:p>
                  </a:txBody>
                  <a:tcPr marL="109728" marR="109728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</a:t>
                      </a:r>
                    </a:p>
                  </a:txBody>
                  <a:tcPr marL="109728" marR="109728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양</a:t>
                      </a:r>
                    </a:p>
                  </a:txBody>
                  <a:tcPr marL="109728" marR="109728" anchor="ctr">
                    <a:solidFill>
                      <a:srgbClr val="16324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멸균생리식염수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0.9 %, 500 mL 나사 마개 병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1병 (병은 그릇으로도 씀)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그래핀 산화물(GO) 분산액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mg/mL, 판 10 µm 이상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 mL → 병 안 0.5 mg/mL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PVA (폴리비닐알코올)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분자량 85,000–124,000, 가수분해 99 % 이상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15.00 g → 병 전체 3 wt%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증류수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증발한 만큼 보충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접촉액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30 % 에탄올 (−20 °C 에서 안 얾)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몇 mL · 전지에 안 들어감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나눠 담기"/>
          <p:cNvSpPr/>
          <p:nvPr/>
        </p:nvSpPr>
        <p:spPr>
          <a:xfrm>
            <a:off x="8275320" y="1508760"/>
            <a:ext cx="3364992" cy="384048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691640"/>
            <a:ext cx="2926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나눠 담는 양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① 식염수 100 mL 를 덜어 PVA 15 g 을 녹임 (15 wt%)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② 식염수 62.5 mL 를 더 덜어 GO 자리를 비움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③ 남은 337.5 + PVA 용액 100 + GO 62.5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= 500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대조군 A · C 는 같은 배합을 한 번에 만들어 나눠 담고, 대조군 B 는 GO 대신 식염수 62.5 mL 로 따로 만듭니다.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네 묶음으로 보는 19단계</a:t>
            </a:r>
          </a:p>
        </p:txBody>
      </p:sp>
      <p:sp>
        <p:nvSpPr>
          <p:cNvPr id="3" name="부제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단계 시간은 '걸리는 시간', 괄호는 그중 손이 드는 시간</a:t>
            </a:r>
          </a:p>
        </p:txBody>
      </p:sp>
      <p:sp>
        <p:nvSpPr>
          <p:cNvPr id="4" name="묶음 1"/>
          <p:cNvSpPr/>
          <p:nvPr/>
        </p:nvSpPr>
        <p:spPr>
          <a:xfrm>
            <a:off x="548640" y="1600200"/>
            <a:ext cx="2578608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단계 1–10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4.9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(손 1.3 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PVA 를 녹이고 GO 와 섞어 병에 다시 담기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63824" y="3493008"/>
            <a:ext cx="164592" cy="274320"/>
          </a:xfrm>
          <a:prstGeom prst="rightArrow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묶음 2"/>
          <p:cNvSpPr/>
          <p:nvPr/>
        </p:nvSpPr>
        <p:spPr>
          <a:xfrm>
            <a:off x="3364992" y="1600200"/>
            <a:ext cx="2578608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단계 11–14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031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동결 · 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74.2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337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(손 1.3 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840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냉각판에서 아래 → 위 방향성 동결, 수조 해동, 3회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3493008"/>
            <a:ext cx="164592" cy="274320"/>
          </a:xfrm>
          <a:prstGeom prst="rightArrow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묶음 3"/>
          <p:cNvSpPr/>
          <p:nvPr/>
        </p:nvSpPr>
        <p:spPr>
          <a:xfrm>
            <a:off x="6181344" y="1600200"/>
            <a:ext cx="2578608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단계 15–17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031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꺼내기 · 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1.1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337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(손 1.0 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840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병을 자르고 전압 · 단면 사진 · 조각 고정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96528" y="3493008"/>
            <a:ext cx="164592" cy="274320"/>
          </a:xfrm>
          <a:prstGeom prst="rightArrow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묶음 4"/>
          <p:cNvSpPr/>
          <p:nvPr/>
        </p:nvSpPr>
        <p:spPr>
          <a:xfrm>
            <a:off x="8997696" y="1600200"/>
            <a:ext cx="2578608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단계 18–19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1031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26.0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337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(손 2.2 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8404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동결건조 뒤 SEM-EDS 로 소금 분포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냉각판 예냉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6 분 · 손 5 분</a:t>
            </a:r>
          </a:p>
        </p:txBody>
      </p:sp>
      <p:pic>
        <p:nvPicPr>
          <p:cNvPr id="5" name="실험대 화면 1" descr="ste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냉각기를 -20 °C 로 켠다. 판이 식는 동안(30–60분) 다음 단계를 진행한다.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판 표면 온도 -20 ± 1 °C (동결 세팅 전까지)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계량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12 분 · 손 10 분</a:t>
            </a:r>
          </a:p>
        </p:txBody>
      </p:sp>
      <p:pic>
        <p:nvPicPr>
          <p:cNvPr id="5" name="실험대 화면 2" descr="ste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PVA 가루 15.00 g 을 잰다.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15.00 ± 0.05 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식염수 덜어 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6 분 · 손 5 분</a:t>
            </a:r>
          </a:p>
        </p:txBody>
      </p:sp>
      <p:pic>
        <p:nvPicPr>
          <p:cNvPr id="5" name="실험대 화면 3" descr="ste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병에서 식염수 100 mL 를 비커에 덜고, 62.5 mL 를 더 덜어 따로 둔다. 병은 마개를 닫아 둔다.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병에 337.5 mL 남음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PVA 분산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12 분 · 손 10 분</a:t>
            </a:r>
          </a:p>
        </p:txBody>
      </p:sp>
      <p:pic>
        <p:nvPicPr>
          <p:cNvPr id="5" name="실험대 화면 4" descr="ste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상온에서 300 rpm 으로 저으며 PVA 를 조금씩 뿌린다. 호일로 덮고 비커째 무게를 적는다.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덩어리 없이 뿌옇게 퍼짐 · 무게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PVA 용해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2.0 h · 손 10 분</a:t>
            </a:r>
          </a:p>
        </p:txBody>
      </p:sp>
      <p:pic>
        <p:nvPicPr>
          <p:cNvPr id="5" name="실험대 화면 5" descr="ste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용액 온도 90 °C, 300 rpm 으로 약 2 h 녹인다. 30분마다 본다.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투명하고 덩어리 없음 (15 wt%, 꿀처럼 진함)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증발 보정 · 식히기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42 분 · 손 5 분</a:t>
            </a:r>
          </a:p>
        </p:txBody>
      </p:sp>
      <p:pic>
        <p:nvPicPr>
          <p:cNvPr id="5" name="실험대 화면 6" descr="ste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비커째 무게를 재서 줄어든 만큼 증류수를 보충한다. 가열을 끄고 저으며 식힌다.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무게 복원 · 40 °C 이하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예비 시험 — GO 응집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30 분 · 손 10 분</a:t>
            </a:r>
          </a:p>
        </p:txBody>
      </p:sp>
      <p:pic>
        <p:nvPicPr>
          <p:cNvPr id="5" name="실험대 화면 7" descr="ste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식염수 13.5 mL + PVA 용액 4 mL + GO 2.5 mL 를 섞어 30분 둔다.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빛에 비춰 고른 갈색이면 진행 · 알갱이나 가라앉은 층이 보이면 중단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8.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비커에서 섞기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36 분 · 손 10 분</a:t>
            </a:r>
          </a:p>
        </p:txBody>
      </p:sp>
      <p:pic>
        <p:nvPicPr>
          <p:cNvPr id="5" name="실험대 화면 8" descr="ste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병의 남은 식염수 337.5 mL 를 비커에 붓고 300 rpm 으로 저으며 PVA 용액, GO 62.5 mL 순서로 천천히 넣는다. 30분 젓는다.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줄무늬 없이 고른 갈색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9.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기포 빼기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18 분 · 손 5 분</a:t>
            </a:r>
          </a:p>
        </p:txBody>
      </p:sp>
      <p:pic>
        <p:nvPicPr>
          <p:cNvPr id="5" name="실험대 화면 9" descr="ste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15분 감압한다. 거품이 끓어오르면 잠깐 진공을 푼다.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표면에 기포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10.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병에 다시 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12 분 · 손 10 분</a:t>
            </a:r>
          </a:p>
        </p:txBody>
      </p:sp>
      <p:pic>
        <p:nvPicPr>
          <p:cNvPr id="5" name="실험대 화면 10" descr="ste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벽을 타고 흐르게 천천히 병에 붓는다. 뚜껑은 반 바퀴 풀어 얹는다.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500 mL · 액면이 어깨 아래 (얼면 9 % 늘어남)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11.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동결 세팅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15 분 · 손 15 분</a:t>
            </a:r>
          </a:p>
        </p:txBody>
      </p:sp>
      <p:pic>
        <p:nvPicPr>
          <p:cNvPr id="5" name="실험대 화면 11" descr="ste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 바닥이 평평한지 보고, 판에 접촉액을 몇 mL 떨어뜨린 뒤 병을 세운다. 옆면·윗면을 단열하고 병 벽 아래·위에 열전대를 붙인다.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바닥 열전대가 내려가기 시작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12.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방향성 동결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22.3 h · 손 0 분</a:t>
            </a:r>
          </a:p>
        </p:txBody>
      </p:sp>
      <p:pic>
        <p:nvPicPr>
          <p:cNvPr id="5" name="실험대 화면 12" descr="ste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손대지 않는다. 얼음이 아래에서 위로 자라며 세포가 생긴다 (FEniCSx 약 22 h).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위쪽 열전대 &lt; −3 °C (판 접촉이 나쁘면 더 걸림)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13.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해동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2.4 h · 손 5 분</a:t>
            </a:r>
          </a:p>
        </p:txBody>
      </p:sp>
      <p:pic>
        <p:nvPicPr>
          <p:cNvPr id="5" name="실험대 화면 13" descr="ste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병을 어깨까지 수조에 담근다 (FEniCSx 약 2.4 h).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병을 눌러 단단한 심이 없음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14.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재동결 · 해동 ×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49.3 h · 손 60 분</a:t>
            </a:r>
          </a:p>
        </p:txBody>
      </p:sp>
      <p:pic>
        <p:nvPicPr>
          <p:cNvPr id="5" name="실험대 화면 14" descr="ste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동결 세팅과 같은 방법으로 다시 방향성 동결 → 수조 해동을 2번 한다. PVA 골격이 단단해진다.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회차마다 열전대 기록 · S4 용 1회 시료는 첫 해동 뒤 바로 분석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15.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병 절단 · 꺼내기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18 분 · 손 15 분</a:t>
            </a:r>
          </a:p>
        </p:txBody>
      </p:sp>
      <p:pic>
        <p:nvPicPr>
          <p:cNvPr id="5" name="실험대 화면 15" descr="ste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가이드 띠를 따라 병을 자르고 겔을 받친 채 꺼낸다.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10분 안에 다음 측정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16.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윗면–아랫면 전압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15 분 · 손 15 분</a:t>
            </a:r>
          </a:p>
        </p:txBody>
      </p:sp>
      <p:pic>
        <p:nvPicPr>
          <p:cNvPr id="5" name="실험대 화면 16" descr="ste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윗면·아랫면에 흑연 막대를 대고 DC mV 를 잰다. 정·역 각 3번.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E2 기록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17.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단면 채취 · 급속 고정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30 분 · 손 30 분</a:t>
            </a:r>
          </a:p>
        </p:txBody>
      </p:sp>
      <p:pic>
        <p:nvPicPr>
          <p:cNvPr id="5" name="실험대 화면 17" descr="ste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세로로 잘라 단면 사진을 찍고 (자 함께), 위·가운데·아래에서 2 mm 조각을 떼어 액체질소에 10초 담근다.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S1–S3 사진 · 조각 3개 고정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18.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동결건조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24.0 h · 손 10 분</a:t>
            </a:r>
          </a:p>
        </p:txBody>
      </p:sp>
      <p:pic>
        <p:nvPicPr>
          <p:cNvPr id="5" name="실험대 화면 18" descr="ste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고정한 조각을 얼린 채로 말린다.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무게 변화 없음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48640" y="27432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19. </a:t>
            </a:r>
            <a:r>
              <a:rPr sz="28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단면 분석 — SEM-EDS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00055" y="3657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기계작업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5415" y="38404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Malgun Gothic"/>
                <a:ea typeface="Malgun Gothic"/>
                <a:cs typeface="Malgun Gothic"/>
              </a:rPr>
              <a:t>걸림 2.0 h · 손 120 분</a:t>
            </a:r>
          </a:p>
        </p:txBody>
      </p:sp>
      <p:pic>
        <p:nvPicPr>
          <p:cNvPr id="5" name="실험대 화면 19" descr="ste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94415" cy="4365016"/>
          </a:xfrm>
          <a:prstGeom prst="rect">
            <a:avLst/>
          </a:prstGeom>
          <a:ln w="9525">
            <a:solidFill>
              <a:srgbClr val="C9D3DD"/>
            </a:solidFill>
          </a:ln>
        </p:spPr>
      </p:pic>
      <p:sp>
        <p:nvSpPr>
          <p:cNvPr id="6" name="할 일"/>
          <p:cNvSpPr/>
          <p:nvPr/>
        </p:nvSpPr>
        <p:spPr>
          <a:xfrm>
            <a:off x="548640" y="5529168"/>
            <a:ext cx="6812280" cy="1008791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638896"/>
            <a:ext cx="6446520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할 일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Cl 지도로 벽 근처와 칸 안의 소금 신호를 비교하고, 칸 폭을 잰다.</a:t>
            </a:r>
          </a:p>
        </p:txBody>
      </p:sp>
      <p:sp>
        <p:nvSpPr>
          <p:cNvPr id="8" name="넘어가는 조건"/>
          <p:cNvSpPr/>
          <p:nvPr/>
        </p:nvSpPr>
        <p:spPr>
          <a:xfrm>
            <a:off x="7543800" y="5529168"/>
            <a:ext cx="4099255" cy="1008791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5638896"/>
            <a:ext cx="3696919" cy="825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넘어가는 조건  </a:t>
            </a:r>
            <a:r>
              <a:rPr sz="1400" b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E1 · S1 · S2 기록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측정 뒤 무엇을 보나 — 미리 정한 판정 기준</a:t>
            </a:r>
          </a:p>
        </p:txBody>
      </p:sp>
      <p:sp>
        <p:nvSpPr>
          <p:cNvPr id="3" name="기준 E1"/>
          <p:cNvSpPr/>
          <p:nvPr/>
        </p:nvSpPr>
        <p:spPr>
          <a:xfrm>
            <a:off x="640080" y="150876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1F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09928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9EC3E6"/>
                </a:solidFill>
                <a:latin typeface="Malgun Gothic"/>
                <a:ea typeface="Malgun Gothic"/>
                <a:cs typeface="Malgun Gothic"/>
              </a:rPr>
              <a:t>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7373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세포에 에너지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8600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5E3F0"/>
                </a:solidFill>
                <a:latin typeface="Malgun Gothic"/>
                <a:ea typeface="Malgun Gothic"/>
                <a:cs typeface="Malgun Gothic"/>
              </a:rPr>
              <a:t>벽 / 칸 Cl 신호 비 10배 이상</a:t>
            </a:r>
          </a:p>
        </p:txBody>
      </p:sp>
      <p:sp>
        <p:nvSpPr>
          <p:cNvPr id="7" name="기준 E2"/>
          <p:cNvSpPr/>
          <p:nvPr/>
        </p:nvSpPr>
        <p:spPr>
          <a:xfrm>
            <a:off x="6217920" y="150876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1F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09928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9EC3E6"/>
                </a:solidFill>
                <a:latin typeface="Malgun Gothic"/>
                <a:ea typeface="Malgun Gothic"/>
                <a:cs typeface="Malgun Gothic"/>
              </a:rPr>
              <a:t>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373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위아래 대칭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28600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5E3F0"/>
                </a:solidFill>
                <a:latin typeface="Malgun Gothic"/>
                <a:ea typeface="Malgun Gothic"/>
                <a:cs typeface="Malgun Gothic"/>
              </a:rPr>
              <a:t>윗면–아랫면 |V| &lt; 50 mV (예측 약 2 mV)</a:t>
            </a:r>
          </a:p>
        </p:txBody>
      </p:sp>
      <p:sp>
        <p:nvSpPr>
          <p:cNvPr id="11" name="기준 S1"/>
          <p:cNvSpPr/>
          <p:nvPr/>
        </p:nvSpPr>
        <p:spPr>
          <a:xfrm>
            <a:off x="640080" y="3383279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1F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9EC3E6"/>
                </a:solidFill>
                <a:latin typeface="Malgun Gothic"/>
                <a:ea typeface="Malgun Gothic"/>
                <a:cs typeface="Malgun Gothic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6118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세포와 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6052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5E3F0"/>
                </a:solidFill>
                <a:latin typeface="Malgun Gothic"/>
                <a:ea typeface="Malgun Gothic"/>
                <a:cs typeface="Malgun Gothic"/>
              </a:rPr>
              <a:t>닫힌 칸, 칸 폭 50–500 µm</a:t>
            </a:r>
          </a:p>
        </p:txBody>
      </p:sp>
      <p:sp>
        <p:nvSpPr>
          <p:cNvPr id="15" name="기준 S4"/>
          <p:cNvSpPr/>
          <p:nvPr/>
        </p:nvSpPr>
        <p:spPr>
          <a:xfrm>
            <a:off x="6217920" y="3383279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1F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84448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9EC3E6"/>
                </a:solidFill>
                <a:latin typeface="Malgun Gothic"/>
                <a:ea typeface="Malgun Gothic"/>
                <a:cs typeface="Malgun Gothic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6118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동결이 막을 안 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16052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5E3F0"/>
                </a:solidFill>
                <a:latin typeface="Malgun Gothic"/>
                <a:ea typeface="Malgun Gothic"/>
                <a:cs typeface="Malgun Gothic"/>
              </a:rPr>
              <a:t>1회 → 3회 사이 E1 비가 절반 아래로 안 떨어짐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CCDF"/>
                </a:solidFill>
                <a:latin typeface="Malgun Gothic"/>
                <a:ea typeface="Malgun Gothic"/>
                <a:cs typeface="Malgun Gothic"/>
              </a:rPr>
              <a:t>기준은 측정 전에 정한 것이라 결과를 보고 바꾸지 않습니다. 전체 기준(E1–E3, S1–S4)과 기록 칸은 인쇄용 기록지 report/report.pdf 와 EXPERIMENT_PROTOCOL.md 에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